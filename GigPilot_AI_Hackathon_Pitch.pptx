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4D399"/>
                </a:solidFill>
              </a:defRPr>
            </a:pPr>
            <a:r>
              <a:t>GIGPILOT AI</a:t>
            </a:r>
          </a:p>
          <a:p>
            <a:pPr>
              <a:spcBef>
                <a:spcPts val="800"/>
              </a:spcBef>
              <a:defRPr sz="2000">
                <a:solidFill>
                  <a:srgbClr val="F9FAFB"/>
                </a:solidFill>
              </a:defRPr>
            </a:pPr>
            <a:r>
              <a:t>Proactive AI Copilot &amp; Rights Advisor for Gig-Workers</a:t>
            </a:r>
          </a:p>
          <a:p>
            <a:pPr>
              <a:spcBef>
                <a:spcPts val="600"/>
              </a:spcBef>
              <a:defRPr sz="1300">
                <a:solidFill>
                  <a:srgbClr val="9CA3AF"/>
                </a:solidFill>
              </a:defRPr>
            </a:pPr>
            <a:r>
              <a:t>Domain: GigShield | Problem Statement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9997135" cy="1828800"/>
          </a:xfrm>
          <a:prstGeom prst="roundRect">
            <a:avLst/>
          </a:prstGeom>
          <a:solidFill>
            <a:srgbClr val="0E141F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TEAM MEMBERS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9FAFB"/>
                </a:solidFill>
              </a:rPr>
              <a:t>•  Ayush Kumar </a:t>
            </a:r>
            <a:r>
              <a:rPr sz="1200">
                <a:solidFill>
                  <a:srgbClr val="9CA3AF"/>
                </a:solidFill>
              </a:rPr>
              <a:t>(AI &amp; Backend Lead)    </a:t>
            </a:r>
            <a:r>
              <a:rPr sz="1400" b="1">
                <a:solidFill>
                  <a:srgbClr val="F9FAFB"/>
                </a:solidFill>
              </a:rPr>
              <a:t>•  Syed Ather </a:t>
            </a:r>
            <a:r>
              <a:rPr sz="1200">
                <a:solidFill>
                  <a:srgbClr val="9CA3AF"/>
                </a:solidFill>
              </a:rPr>
              <a:t>(Full Stack Developer)    </a:t>
            </a:r>
            <a:r>
              <a:rPr sz="1400" b="1">
                <a:solidFill>
                  <a:srgbClr val="F9FAFB"/>
                </a:solidFill>
              </a:rPr>
              <a:t>•  Tushar Jain </a:t>
            </a:r>
            <a:r>
              <a:rPr sz="1200">
                <a:solidFill>
                  <a:srgbClr val="9CA3AF"/>
                </a:solidFill>
              </a:rPr>
              <a:t>(System Architecture &amp; UI/UX)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DOMAIN: GIGSHIELD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The Problem: Blind Navigation &amp; Gig Exploitation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410C"/>
                </a:solidFill>
              </a:defRPr>
            </a:pPr>
            <a:r>
              <a:t>01. Hidden Fuel &amp; Idling Losses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</a:defRPr>
            </a:pPr>
            <a:r>
              <a:t>Orders look lucrative (₹120) but lose money after traffic delays and rising fuel costs (₹110.93-₹111.68/L in Bangalore).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410C"/>
                </a:solidFill>
              </a:defRPr>
            </a:pPr>
            <a:r>
              <a:t>02. Oversaturated Hotspots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</a:defRPr>
            </a:pPr>
            <a:r>
              <a:t>Workers flock to crowded restaurant hubs without knowing real-time driver competition density.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410C"/>
                </a:solidFill>
              </a:defRPr>
            </a:pPr>
            <a:r>
              <a:t>03. Burnout &amp; Fatigue Risks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</a:defRPr>
            </a:pPr>
            <a:r>
              <a:t>Continuous 4+ hour driving without rest breaks degrades safety scores and increases road accidents.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578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410C"/>
                </a:solidFill>
              </a:defRPr>
            </a:pPr>
            <a:r>
              <a:t>04. Lack of Rate Transparency</a:t>
            </a:r>
          </a:p>
          <a:p>
            <a:pPr>
              <a:spcBef>
                <a:spcPts val="800"/>
              </a:spcBef>
              <a:defRPr sz="1300">
                <a:solidFill>
                  <a:srgbClr val="F9FAFB"/>
                </a:solidFill>
              </a:defRPr>
            </a:pPr>
            <a:r>
              <a:t>Gig platforms underpay per-km rates without clear fare benchmark visibility or legal rights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Our Solution: GigPilot AI Proactive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15803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9FAFB"/>
                </a:solidFill>
              </a:defRPr>
            </a:pPr>
            <a:r>
              <a:t>GigPilot AI turns gig work from a blind hustle into an optimized, high-yield micro-business. It provides real-time traffic decisioning, instant OCR order profit calculation, continuous burnout monitoring, and multilingual rights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39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Pillar 01</a:t>
            </a:r>
          </a:p>
          <a:p>
            <a:pPr>
              <a:spcBef>
                <a:spcPts val="400"/>
              </a:spcBef>
              <a:defRPr sz="1400" b="1">
                <a:solidFill>
                  <a:srgbClr val="F9FAFB"/>
                </a:solidFill>
              </a:defRPr>
            </a:pPr>
            <a:r>
              <a:t>360° Live Opportunity Radar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Analyzes driver competition &amp; monsoon surge to steer riders to high-demand hotspots (₹365/hr).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01752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3291839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Pillar 02</a:t>
            </a:r>
          </a:p>
          <a:p>
            <a:pPr>
              <a:spcBef>
                <a:spcPts val="400"/>
              </a:spcBef>
              <a:defRPr sz="1400" b="1">
                <a:solidFill>
                  <a:srgbClr val="F9FAFB"/>
                </a:solidFill>
              </a:defRPr>
            </a:pPr>
            <a:r>
              <a:t>AI Screenshot OCR Analyzer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Parses order slip photos (Swiggy/Zomato/Uber) to compute net profit after fuel expenses.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01752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3291839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Pillar 03</a:t>
            </a:r>
          </a:p>
          <a:p>
            <a:pPr>
              <a:spcBef>
                <a:spcPts val="400"/>
              </a:spcBef>
              <a:defRPr sz="1400" b="1">
                <a:solidFill>
                  <a:srgbClr val="F9FAFB"/>
                </a:solidFill>
              </a:defRPr>
            </a:pPr>
            <a:r>
              <a:t>Burnout &amp; Fatigue Guardian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Monitors continuous active shift hours (≥4.0h) to trigger mandatory safety recovery breaks.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017520"/>
            <a:ext cx="2560320" cy="32918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3291839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Pillar 04</a:t>
            </a:r>
          </a:p>
          <a:p>
            <a:pPr>
              <a:spcBef>
                <a:spcPts val="400"/>
              </a:spcBef>
              <a:defRPr sz="1400" b="1">
                <a:solidFill>
                  <a:srgbClr val="F9FAFB"/>
                </a:solidFill>
              </a:defRPr>
            </a:pPr>
            <a:r>
              <a:t>Multilingual Rights Companion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Supports 7 regional Indian languages with Groq Llama 3.3-70B AI for fare benchmark clarity.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Features Implemented: Live Interactive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Vector Map Radar &amp; GPS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Leaflet vector map centered at Basavanagudi (BMSCE) with 360° revolving conic radar sweep and live GPS button.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Order Slip OCR Vision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Drag-and-drop receipt upload powered by Tesseract.js to detect ₹ payout, km distance, and net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91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2410C"/>
                </a:solidFill>
              </a:defRPr>
            </a:pPr>
            <a:r>
              <a:t>TomTom Live Traffic Engine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Integrates TomTom Flow API to penalize gridlocked routes (+38% fuel idling penalty on heavy traffic).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Direct Google Maps Routing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1-click 'Route' button launching turn-by-turn navigation directly to high-yield order zones.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7472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GigDNA Reputation Index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5D score evaluating Reliability, Safety, Efficiency, Income Stability, and Customer Happiness.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31920"/>
            <a:ext cx="347472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160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7 Regional Indian Languages</a:t>
            </a:r>
          </a:p>
          <a:p>
            <a:pPr>
              <a:spcBef>
                <a:spcPts val="600"/>
              </a:spcBef>
              <a:defRPr sz="1200">
                <a:solidFill>
                  <a:srgbClr val="9CA3AF"/>
                </a:solidFill>
              </a:defRPr>
            </a:pPr>
            <a:r>
              <a:t>Seamless switcher supporting English, Hindi, Kannada, Bengali, Marathi, Telugu, and Tamil.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TECHNICAL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Tech Stack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LAYER 01</a:t>
            </a:r>
          </a:p>
          <a:p>
            <a:pPr>
              <a:spcBef>
                <a:spcPts val="600"/>
              </a:spcBef>
              <a:defRPr sz="1600" b="1">
                <a:solidFill>
                  <a:srgbClr val="F9FAFB"/>
                </a:solidFill>
              </a:defRPr>
            </a:pPr>
            <a:r>
              <a:t>Frontend Layer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React 18, Vite, Tailwind CSS, Lucide Icons, Leaflet Vector Maps, Tesseract.js 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LAYER 02</a:t>
            </a:r>
          </a:p>
          <a:p>
            <a:pPr>
              <a:spcBef>
                <a:spcPts val="600"/>
              </a:spcBef>
              <a:defRPr sz="1600" b="1">
                <a:solidFill>
                  <a:srgbClr val="F9FAFB"/>
                </a:solidFill>
              </a:defRPr>
            </a:pPr>
            <a:r>
              <a:t>Backend Services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Node.js, Express Framework, Axios, SQLite3, Dual In-Memory Fast Data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LAYER 03</a:t>
            </a:r>
          </a:p>
          <a:p>
            <a:pPr>
              <a:spcBef>
                <a:spcPts val="600"/>
              </a:spcBef>
              <a:defRPr sz="1600" b="1">
                <a:solidFill>
                  <a:srgbClr val="F9FAFB"/>
                </a:solidFill>
              </a:defRPr>
            </a:pPr>
            <a:r>
              <a:t>AI &amp; Machine Learning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Groq Llama 3.3-70B LLM API, Tesseract OCR Engine, TomTom Traffic Flow AI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73736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LAYER 04</a:t>
            </a:r>
          </a:p>
          <a:p>
            <a:pPr>
              <a:spcBef>
                <a:spcPts val="600"/>
              </a:spcBef>
              <a:defRPr sz="1600" b="1">
                <a:solidFill>
                  <a:srgbClr val="F9FAFB"/>
                </a:solidFill>
              </a:defRPr>
            </a:pPr>
            <a:r>
              <a:t>Third-Party APIs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TomTom Traffic &amp; Routing API, OpenWeatherMap API, Google Maps Directions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AI &amp; ML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AI Component: Genuine Integration &amp;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AI MODEL 01: Groq Llama 3.3-70B LLM</a:t>
            </a:r>
          </a:p>
          <a:p>
            <a:pPr>
              <a:spcBef>
                <a:spcPts val="400"/>
              </a:spcBef>
              <a:defRPr sz="1300">
                <a:solidFill>
                  <a:srgbClr val="F9FAFB"/>
                </a:solidFill>
              </a:defRPr>
            </a:pPr>
            <a:r>
              <a:t>Powers the multilingual Copilot chatbot. Answers queries on fuel rates (₹110.93-₹111.68/L), shift spending, earnings summaries, and fare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AI MODEL 02: Tesseract.js Client Vision</a:t>
            </a:r>
          </a:p>
          <a:p>
            <a:pPr>
              <a:spcBef>
                <a:spcPts val="400"/>
              </a:spcBef>
              <a:defRPr sz="1300">
                <a:solidFill>
                  <a:srgbClr val="F9FAFB"/>
                </a:solidFill>
              </a:defRPr>
            </a:pPr>
            <a:r>
              <a:t>Extracts payout amount (₹), distance (km), platform name, and delivery location from uploaded order screenshots with 94%+ OCR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AI MODEL 03: TomTom &amp; Weather AI Engine</a:t>
            </a:r>
          </a:p>
          <a:p>
            <a:pPr>
              <a:spcBef>
                <a:spcPts val="400"/>
              </a:spcBef>
              <a:defRPr sz="1300">
                <a:solidFill>
                  <a:srgbClr val="F9FAFB"/>
                </a:solidFill>
              </a:defRPr>
            </a:pPr>
            <a:r>
              <a:t>Dynamically computes traffic idling delays and monsoon rain surge multipliers (+25% bonus payout)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MARKET &amp;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Business Model &amp; Monetization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STREAM 01</a:t>
            </a:r>
          </a:p>
          <a:p>
            <a:pPr>
              <a:spcBef>
                <a:spcPts val="600"/>
              </a:spcBef>
              <a:defRPr sz="1600" b="1">
                <a:solidFill>
                  <a:srgbClr val="F9FAFB"/>
                </a:solidFill>
              </a:defRPr>
            </a:pPr>
            <a:r>
              <a:t>Freemium Worker Subscriptions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Basic radar &amp; AI decisioning free forever. Premium tier (₹49/month) unlocks predictive heatmaps &amp; unlimited instant OCR slip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STREAM 02</a:t>
            </a:r>
          </a:p>
          <a:p>
            <a:pPr>
              <a:spcBef>
                <a:spcPts val="600"/>
              </a:spcBef>
              <a:defRPr sz="1600" b="1">
                <a:solidFill>
                  <a:srgbClr val="F9FAFB"/>
                </a:solidFill>
              </a:defRPr>
            </a:pPr>
            <a:r>
              <a:t>B2B Fleet &amp; Rental Partnerships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Partnering with EV rental companies (Yulu, Zypp) and gig platforms for driver retention, safety analytics, and battery swapping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STREAM 03</a:t>
            </a:r>
          </a:p>
          <a:p>
            <a:pPr>
              <a:spcBef>
                <a:spcPts val="600"/>
              </a:spcBef>
              <a:defRPr sz="1600" b="1">
                <a:solidFill>
                  <a:srgbClr val="F9FAFB"/>
                </a:solidFill>
              </a:defRPr>
            </a:pPr>
            <a:r>
              <a:t>GigDNA Financial Services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Utilizing 5D GigDNA reputation scores to partner with fintech providers for micro-loans, instant daily payouts, and health insurance.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ROI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Worker Financial Impact: Proven Earnings Boost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2410C"/>
                </a:solidFill>
              </a:defRPr>
            </a:pPr>
            <a:r>
              <a:t>TRADITIONAL GIG WORK (WITHOUT COPILOT)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Avg. Hourly Yield: ₹140 / hr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Daily Fuel Waste: ₹180 / day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Underpaid Orders Taken: 35% of orders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Net Daily Shift Profit: ₹450 / shift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WITH GIGPILOT AI COPILOT (+73% PROFIT)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Avg. Hourly Yield: ₹245 / hr (+75% gain!)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Daily Fuel Saved: ₹85 saved / day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Underpaid Orders Rejected: 100% filtered via OCR</a:t>
            </a:r>
          </a:p>
          <a:p>
            <a:pPr>
              <a:spcBef>
                <a:spcPts val="1000"/>
              </a:spcBef>
              <a:defRPr sz="1300">
                <a:solidFill>
                  <a:srgbClr val="F9FAFB"/>
                </a:solidFill>
              </a:defRPr>
            </a:pPr>
            <a:r>
              <a:t>•  Net Daily Shift Profit: ₹780 / shift (+73% boost!)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</a:defRPr>
            </a:pPr>
            <a:r>
              <a:t>Scalability &amp; Future 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Phase 1: Hackathon MVP</a:t>
            </a:r>
          </a:p>
          <a:p>
            <a:pPr>
              <a:spcBef>
                <a:spcPts val="400"/>
              </a:spcBef>
              <a:defRPr sz="1300">
                <a:solidFill>
                  <a:srgbClr val="F9FAFB"/>
                </a:solidFill>
              </a:defRPr>
            </a:pPr>
            <a:r>
              <a:t>Live Opportunity Radar, Leaflet vector maps, Basavanagudi BMSCE hotspot engine, OCR profit analyzer, TomTom traffic API, 7 languages.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Phase 2: Multi-App Aggregator</a:t>
            </a:r>
          </a:p>
          <a:p>
            <a:pPr>
              <a:spcBef>
                <a:spcPts val="400"/>
              </a:spcBef>
              <a:defRPr sz="1300">
                <a:solidFill>
                  <a:srgbClr val="F9FAFB"/>
                </a:solidFill>
              </a:defRPr>
            </a:pPr>
            <a:r>
              <a:t>Unified floating copilot overlay auto-accepting highest yield orders across Swiggy, Zomato, Uber, and Blinkit concurrently.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7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800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Phase 3: EV &amp; Fintech Scale</a:t>
            </a:r>
          </a:p>
          <a:p>
            <a:pPr>
              <a:spcBef>
                <a:spcPts val="400"/>
              </a:spcBef>
              <a:defRPr sz="1300">
                <a:solidFill>
                  <a:srgbClr val="F9FAFB"/>
                </a:solidFill>
              </a:defRPr>
            </a:pPr>
            <a:r>
              <a:t>Integration with EV battery swapping stations and leveraging 5D GigDNA credit scoring for instant rider micro-insurance.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EMPWERING INDIA'S GIG WORKERS</a:t>
            </a:r>
          </a:p>
          <a:p>
            <a:pPr>
              <a:spcBef>
                <a:spcPts val="600"/>
              </a:spcBef>
              <a:defRPr sz="3600" b="1">
                <a:solidFill>
                  <a:srgbClr val="F9FAFB"/>
                </a:solidFill>
              </a:defRPr>
            </a:pPr>
            <a:r>
              <a:t>GigPilot AI — The Ultimate Proactive Copilot</a:t>
            </a:r>
          </a:p>
          <a:p>
            <a:pPr>
              <a:spcBef>
                <a:spcPts val="1200"/>
              </a:spcBef>
              <a:defRPr sz="1600">
                <a:solidFill>
                  <a:srgbClr val="9CA3AF"/>
                </a:solidFill>
              </a:defRPr>
            </a:pPr>
            <a:r>
              <a:t>Thank you for reviewing our solution for the GigShield Problem Statement!</a:t>
            </a:r>
          </a:p>
          <a:p>
            <a:pPr>
              <a:spcBef>
                <a:spcPts val="1600"/>
              </a:spcBef>
              <a:defRPr sz="1400" b="1">
                <a:solidFill>
                  <a:srgbClr val="34D399"/>
                </a:solidFill>
              </a:defRPr>
            </a:pPr>
            <a:r>
              <a:t>• GitHub Repository: https://github.com/Tusharjain-19/gigpilot.git</a:t>
            </a:r>
            <a:br/>
            <a:r>
              <a:t>• Team: Ayush Kumar, Syed Ather, Tushar Jain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